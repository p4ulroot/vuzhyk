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73" r:id="rId5"/>
    <p:sldId id="263" r:id="rId6"/>
    <p:sldId id="264" r:id="rId7"/>
    <p:sldId id="265" r:id="rId8"/>
    <p:sldId id="266" r:id="rId9"/>
    <p:sldId id="267" r:id="rId10"/>
    <p:sldId id="268" r:id="rId11"/>
    <p:sldId id="274" r:id="rId12"/>
    <p:sldId id="275" r:id="rId13"/>
    <p:sldId id="269" r:id="rId14"/>
    <p:sldId id="270" r:id="rId15"/>
    <p:sldId id="278" r:id="rId16"/>
    <p:sldId id="279" r:id="rId17"/>
    <p:sldId id="262" r:id="rId18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FD38BAB-102B-49A6-8B66-C28B2504F810}">
          <p14:sldIdLst>
            <p14:sldId id="256"/>
            <p14:sldId id="257"/>
            <p14:sldId id="273"/>
            <p14:sldId id="263"/>
            <p14:sldId id="264"/>
            <p14:sldId id="265"/>
            <p14:sldId id="266"/>
            <p14:sldId id="267"/>
            <p14:sldId id="268"/>
            <p14:sldId id="274"/>
            <p14:sldId id="275"/>
            <p14:sldId id="269"/>
            <p14:sldId id="270"/>
            <p14:sldId id="278"/>
            <p14:sldId id="279"/>
            <p14:sldId id="262"/>
          </p14:sldIdLst>
        </p14:section>
        <p14:section name="Раздел без заголовка" id="{D8787CAE-B97E-401B-9D4F-F4CA3CAEBAB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2E88"/>
    <a:srgbClr val="D24543"/>
    <a:srgbClr val="EED216"/>
    <a:srgbClr val="7F3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474" y="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9B3DBA-C9A5-4258-9EBC-2A0488A4502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C06BA74-5643-4A67-AE6D-1C8542874969}">
      <dgm:prSet phldrT="[Текст]"/>
      <dgm:spPr>
        <a:solidFill>
          <a:srgbClr val="8E2E88"/>
        </a:solidFill>
      </dgm:spPr>
      <dgm:t>
        <a:bodyPr/>
        <a:lstStyle/>
        <a:p>
          <a:r>
            <a:rPr lang="ru-R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Roboto" pitchFamily="2" charset="0"/>
            </a:rPr>
            <a:t>Необходимость в адаптированной для обучения школьников среде программирования</a:t>
          </a:r>
          <a:endParaRPr lang="x-none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97E9DB-5344-4003-A40B-06099CA8AF62}" type="parTrans" cxnId="{D878B02B-F2FF-4205-897F-A4FB029EACF8}">
      <dgm:prSet/>
      <dgm:spPr/>
      <dgm:t>
        <a:bodyPr/>
        <a:lstStyle/>
        <a:p>
          <a:endParaRPr lang="x-none"/>
        </a:p>
      </dgm:t>
    </dgm:pt>
    <dgm:pt modelId="{298EDA5D-44B5-4CC4-8968-CFCCC1F238BD}" type="sibTrans" cxnId="{D878B02B-F2FF-4205-897F-A4FB029EACF8}">
      <dgm:prSet custT="1"/>
      <dgm:spPr>
        <a:solidFill>
          <a:schemeClr val="bg1"/>
        </a:solidFill>
      </dgm:spPr>
      <dgm:t>
        <a:bodyPr/>
        <a:lstStyle/>
        <a:p>
          <a:endParaRPr lang="x-none" sz="1400">
            <a:solidFill>
              <a:schemeClr val="bg1"/>
            </a:solidFill>
          </a:endParaRPr>
        </a:p>
      </dgm:t>
    </dgm:pt>
    <dgm:pt modelId="{1A928E67-006A-4343-98BA-430BC536B03C}">
      <dgm:prSet phldrT="[Текст]"/>
      <dgm:spPr>
        <a:solidFill>
          <a:srgbClr val="8E2E88"/>
        </a:solidFill>
      </dgm:spPr>
      <dgm:t>
        <a:bodyPr/>
        <a:lstStyle/>
        <a:p>
          <a:r>
            <a:rPr lang="ru-R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Roboto" pitchFamily="2" charset="0"/>
            </a:rPr>
            <a:t>В 2024/2025 учебном году изучение основ программирования в рамках учебного предмета “Информатика”  в школах Беларуси перешло с </a:t>
          </a:r>
          <a:r>
            <a:rPr lang="ru-RU" b="1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Roboto" pitchFamily="2" charset="0"/>
            </a:rPr>
            <a:t>Pascal</a:t>
          </a:r>
          <a:r>
            <a:rPr lang="ru-R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Roboto" pitchFamily="2" charset="0"/>
            </a:rPr>
            <a:t> на Python </a:t>
          </a:r>
          <a:endParaRPr lang="x-none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9D9364-749F-4D36-9644-5C6180CF41F9}" type="sibTrans" cxnId="{EDEDBC5D-E254-4186-9DD7-16062F0A6D05}">
      <dgm:prSet/>
      <dgm:spPr>
        <a:solidFill>
          <a:schemeClr val="bg1"/>
        </a:solidFill>
      </dgm:spPr>
      <dgm:t>
        <a:bodyPr/>
        <a:lstStyle/>
        <a:p>
          <a:endParaRPr lang="x-none"/>
        </a:p>
      </dgm:t>
    </dgm:pt>
    <dgm:pt modelId="{C45A75A6-AC02-4C8E-B75D-244DF9437494}" type="parTrans" cxnId="{EDEDBC5D-E254-4186-9DD7-16062F0A6D05}">
      <dgm:prSet/>
      <dgm:spPr/>
      <dgm:t>
        <a:bodyPr/>
        <a:lstStyle/>
        <a:p>
          <a:endParaRPr lang="x-none"/>
        </a:p>
      </dgm:t>
    </dgm:pt>
    <dgm:pt modelId="{271F9AF2-35C3-4A4F-87EB-072532BB3C37}">
      <dgm:prSet/>
      <dgm:spPr>
        <a:noFill/>
        <a:ln>
          <a:noFill/>
        </a:ln>
      </dgm:spPr>
      <dgm:t>
        <a:bodyPr/>
        <a:lstStyle/>
        <a:p>
          <a:endParaRPr lang="x-none"/>
        </a:p>
      </dgm:t>
    </dgm:pt>
    <dgm:pt modelId="{5EAC55C9-B088-4CF4-AC2C-0E6495AADABB}" type="parTrans" cxnId="{DABB5F13-0550-451B-9C68-42C6B3CC629D}">
      <dgm:prSet/>
      <dgm:spPr/>
      <dgm:t>
        <a:bodyPr/>
        <a:lstStyle/>
        <a:p>
          <a:endParaRPr lang="x-none"/>
        </a:p>
      </dgm:t>
    </dgm:pt>
    <dgm:pt modelId="{66BC13F9-D9BA-4C8A-A33D-959135C9D032}" type="sibTrans" cxnId="{DABB5F13-0550-451B-9C68-42C6B3CC629D}">
      <dgm:prSet/>
      <dgm:spPr/>
      <dgm:t>
        <a:bodyPr/>
        <a:lstStyle/>
        <a:p>
          <a:endParaRPr lang="x-none"/>
        </a:p>
      </dgm:t>
    </dgm:pt>
    <dgm:pt modelId="{1EF9DE44-AD7A-4195-B425-89AF7E94A68D}" type="pres">
      <dgm:prSet presAssocID="{F99B3DBA-C9A5-4258-9EBC-2A0488A45021}" presName="Name0" presStyleCnt="0">
        <dgm:presLayoutVars>
          <dgm:dir/>
          <dgm:resizeHandles val="exact"/>
        </dgm:presLayoutVars>
      </dgm:prSet>
      <dgm:spPr/>
    </dgm:pt>
    <dgm:pt modelId="{0566A843-B3B5-4D9E-A200-CA6A48890660}" type="pres">
      <dgm:prSet presAssocID="{1A928E67-006A-4343-98BA-430BC536B03C}" presName="node" presStyleLbl="node1" presStyleIdx="0" presStyleCnt="3" custScaleX="119560" custLinFactNeighborX="-117" custLinFactNeighborY="969">
        <dgm:presLayoutVars>
          <dgm:bulletEnabled val="1"/>
        </dgm:presLayoutVars>
      </dgm:prSet>
      <dgm:spPr/>
    </dgm:pt>
    <dgm:pt modelId="{73CDC741-1498-49B2-B50B-83AAC0768CFB}" type="pres">
      <dgm:prSet presAssocID="{8D9D9364-749F-4D36-9644-5C6180CF41F9}" presName="sibTrans" presStyleLbl="sibTrans2D1" presStyleIdx="0" presStyleCnt="2"/>
      <dgm:spPr/>
    </dgm:pt>
    <dgm:pt modelId="{F33FF180-4FF0-4A9A-A988-C27294BFBE94}" type="pres">
      <dgm:prSet presAssocID="{8D9D9364-749F-4D36-9644-5C6180CF41F9}" presName="connectorText" presStyleLbl="sibTrans2D1" presStyleIdx="0" presStyleCnt="2"/>
      <dgm:spPr/>
    </dgm:pt>
    <dgm:pt modelId="{8B8D46AA-13F4-42BE-BC96-8071121A4E72}" type="pres">
      <dgm:prSet presAssocID="{CC06BA74-5643-4A67-AE6D-1C8542874969}" presName="node" presStyleLbl="node1" presStyleIdx="1" presStyleCnt="3" custScaleY="86666">
        <dgm:presLayoutVars>
          <dgm:bulletEnabled val="1"/>
        </dgm:presLayoutVars>
      </dgm:prSet>
      <dgm:spPr/>
    </dgm:pt>
    <dgm:pt modelId="{344FAE1C-F50B-407E-94D6-3B43F7B0152B}" type="pres">
      <dgm:prSet presAssocID="{298EDA5D-44B5-4CC4-8968-CFCCC1F238BD}" presName="sibTrans" presStyleLbl="sibTrans2D1" presStyleIdx="1" presStyleCnt="2"/>
      <dgm:spPr/>
    </dgm:pt>
    <dgm:pt modelId="{17CD2C26-235E-476C-BDF5-FF73F8140DEF}" type="pres">
      <dgm:prSet presAssocID="{298EDA5D-44B5-4CC4-8968-CFCCC1F238BD}" presName="connectorText" presStyleLbl="sibTrans2D1" presStyleIdx="1" presStyleCnt="2"/>
      <dgm:spPr/>
    </dgm:pt>
    <dgm:pt modelId="{849B6CDD-A29F-4563-9236-B1A026718085}" type="pres">
      <dgm:prSet presAssocID="{271F9AF2-35C3-4A4F-87EB-072532BB3C37}" presName="node" presStyleLbl="node1" presStyleIdx="2" presStyleCnt="3" custLinFactNeighborX="1842" custLinFactNeighborY="1706">
        <dgm:presLayoutVars>
          <dgm:bulletEnabled val="1"/>
        </dgm:presLayoutVars>
      </dgm:prSet>
      <dgm:spPr/>
    </dgm:pt>
  </dgm:ptLst>
  <dgm:cxnLst>
    <dgm:cxn modelId="{9D15D209-B644-4CB5-AA25-D367FC332033}" type="presOf" srcId="{F99B3DBA-C9A5-4258-9EBC-2A0488A45021}" destId="{1EF9DE44-AD7A-4195-B425-89AF7E94A68D}" srcOrd="0" destOrd="0" presId="urn:microsoft.com/office/officeart/2005/8/layout/process1"/>
    <dgm:cxn modelId="{DABB5F13-0550-451B-9C68-42C6B3CC629D}" srcId="{F99B3DBA-C9A5-4258-9EBC-2A0488A45021}" destId="{271F9AF2-35C3-4A4F-87EB-072532BB3C37}" srcOrd="2" destOrd="0" parTransId="{5EAC55C9-B088-4CF4-AC2C-0E6495AADABB}" sibTransId="{66BC13F9-D9BA-4C8A-A33D-959135C9D032}"/>
    <dgm:cxn modelId="{150FAB24-639E-4AC8-98A9-049F7A997A9A}" type="presOf" srcId="{271F9AF2-35C3-4A4F-87EB-072532BB3C37}" destId="{849B6CDD-A29F-4563-9236-B1A026718085}" srcOrd="0" destOrd="0" presId="urn:microsoft.com/office/officeart/2005/8/layout/process1"/>
    <dgm:cxn modelId="{D878B02B-F2FF-4205-897F-A4FB029EACF8}" srcId="{F99B3DBA-C9A5-4258-9EBC-2A0488A45021}" destId="{CC06BA74-5643-4A67-AE6D-1C8542874969}" srcOrd="1" destOrd="0" parTransId="{4997E9DB-5344-4003-A40B-06099CA8AF62}" sibTransId="{298EDA5D-44B5-4CC4-8968-CFCCC1F238BD}"/>
    <dgm:cxn modelId="{6B12103B-7DCF-4236-A98D-589D67339077}" type="presOf" srcId="{298EDA5D-44B5-4CC4-8968-CFCCC1F238BD}" destId="{344FAE1C-F50B-407E-94D6-3B43F7B0152B}" srcOrd="0" destOrd="0" presId="urn:microsoft.com/office/officeart/2005/8/layout/process1"/>
    <dgm:cxn modelId="{EDEDBC5D-E254-4186-9DD7-16062F0A6D05}" srcId="{F99B3DBA-C9A5-4258-9EBC-2A0488A45021}" destId="{1A928E67-006A-4343-98BA-430BC536B03C}" srcOrd="0" destOrd="0" parTransId="{C45A75A6-AC02-4C8E-B75D-244DF9437494}" sibTransId="{8D9D9364-749F-4D36-9644-5C6180CF41F9}"/>
    <dgm:cxn modelId="{ACFEBD42-3511-4BB5-B800-91B52BE873F5}" type="presOf" srcId="{1A928E67-006A-4343-98BA-430BC536B03C}" destId="{0566A843-B3B5-4D9E-A200-CA6A48890660}" srcOrd="0" destOrd="0" presId="urn:microsoft.com/office/officeart/2005/8/layout/process1"/>
    <dgm:cxn modelId="{4CA4D848-1E01-4C96-85CC-421E08184094}" type="presOf" srcId="{CC06BA74-5643-4A67-AE6D-1C8542874969}" destId="{8B8D46AA-13F4-42BE-BC96-8071121A4E72}" srcOrd="0" destOrd="0" presId="urn:microsoft.com/office/officeart/2005/8/layout/process1"/>
    <dgm:cxn modelId="{8E5F329F-3EB4-4A36-AEA6-F7B1ECB82DD3}" type="presOf" srcId="{8D9D9364-749F-4D36-9644-5C6180CF41F9}" destId="{F33FF180-4FF0-4A9A-A988-C27294BFBE94}" srcOrd="1" destOrd="0" presId="urn:microsoft.com/office/officeart/2005/8/layout/process1"/>
    <dgm:cxn modelId="{61ED64C5-9FB2-402A-8E62-FE6E6AE13566}" type="presOf" srcId="{298EDA5D-44B5-4CC4-8968-CFCCC1F238BD}" destId="{17CD2C26-235E-476C-BDF5-FF73F8140DEF}" srcOrd="1" destOrd="0" presId="urn:microsoft.com/office/officeart/2005/8/layout/process1"/>
    <dgm:cxn modelId="{6D1837FB-56A0-4008-97A5-B72DE6DD41BA}" type="presOf" srcId="{8D9D9364-749F-4D36-9644-5C6180CF41F9}" destId="{73CDC741-1498-49B2-B50B-83AAC0768CFB}" srcOrd="0" destOrd="0" presId="urn:microsoft.com/office/officeart/2005/8/layout/process1"/>
    <dgm:cxn modelId="{E807A894-E156-4153-9380-AB91CAB7B7C7}" type="presParOf" srcId="{1EF9DE44-AD7A-4195-B425-89AF7E94A68D}" destId="{0566A843-B3B5-4D9E-A200-CA6A48890660}" srcOrd="0" destOrd="0" presId="urn:microsoft.com/office/officeart/2005/8/layout/process1"/>
    <dgm:cxn modelId="{D9A66636-8803-43A1-903B-2E9E2D050ABA}" type="presParOf" srcId="{1EF9DE44-AD7A-4195-B425-89AF7E94A68D}" destId="{73CDC741-1498-49B2-B50B-83AAC0768CFB}" srcOrd="1" destOrd="0" presId="urn:microsoft.com/office/officeart/2005/8/layout/process1"/>
    <dgm:cxn modelId="{8602731F-9760-414B-AFFC-626A37AFB122}" type="presParOf" srcId="{73CDC741-1498-49B2-B50B-83AAC0768CFB}" destId="{F33FF180-4FF0-4A9A-A988-C27294BFBE94}" srcOrd="0" destOrd="0" presId="urn:microsoft.com/office/officeart/2005/8/layout/process1"/>
    <dgm:cxn modelId="{8D4F4133-BBBB-427C-9C8E-3B208CE0B600}" type="presParOf" srcId="{1EF9DE44-AD7A-4195-B425-89AF7E94A68D}" destId="{8B8D46AA-13F4-42BE-BC96-8071121A4E72}" srcOrd="2" destOrd="0" presId="urn:microsoft.com/office/officeart/2005/8/layout/process1"/>
    <dgm:cxn modelId="{A4DA8946-8DB0-4D33-96E7-ED9AF42DEB6E}" type="presParOf" srcId="{1EF9DE44-AD7A-4195-B425-89AF7E94A68D}" destId="{344FAE1C-F50B-407E-94D6-3B43F7B0152B}" srcOrd="3" destOrd="0" presId="urn:microsoft.com/office/officeart/2005/8/layout/process1"/>
    <dgm:cxn modelId="{9F18608A-0128-4708-AB49-A81196B42FAF}" type="presParOf" srcId="{344FAE1C-F50B-407E-94D6-3B43F7B0152B}" destId="{17CD2C26-235E-476C-BDF5-FF73F8140DEF}" srcOrd="0" destOrd="0" presId="urn:microsoft.com/office/officeart/2005/8/layout/process1"/>
    <dgm:cxn modelId="{7F9867D8-CBF0-49B4-9245-DD9AE437286E}" type="presParOf" srcId="{1EF9DE44-AD7A-4195-B425-89AF7E94A68D}" destId="{849B6CDD-A29F-4563-9236-B1A02671808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3C076B-CDB7-4F55-A15F-09334E5D1CB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BEAB7672-CADC-4FA5-AA98-E89A45AD26B0}">
      <dgm:prSet phldrT="[Текст]"/>
      <dgm:spPr>
        <a:solidFill>
          <a:srgbClr val="8E2E88"/>
        </a:solidFill>
      </dgm:spPr>
      <dgm:t>
        <a:bodyPr/>
        <a:lstStyle/>
        <a:p>
          <a:r>
            <a:rPr lang="ru-RU" b="0" i="0" u="none" dirty="0"/>
            <a:t>синхронизация библиотек на компьютерах учеников и учителя по локальной сети</a:t>
          </a:r>
          <a:endParaRPr lang="x-none" dirty="0"/>
        </a:p>
      </dgm:t>
    </dgm:pt>
    <dgm:pt modelId="{6D27A012-C122-40B0-BC8F-D0E90CE16AAB}" type="parTrans" cxnId="{3B05330D-08C4-4484-9FC9-9E0BDCC2CD6C}">
      <dgm:prSet/>
      <dgm:spPr/>
      <dgm:t>
        <a:bodyPr/>
        <a:lstStyle/>
        <a:p>
          <a:endParaRPr lang="x-none"/>
        </a:p>
      </dgm:t>
    </dgm:pt>
    <dgm:pt modelId="{BA52633C-5AC4-424C-B4CE-D934AE38DE23}" type="sibTrans" cxnId="{3B05330D-08C4-4484-9FC9-9E0BDCC2CD6C}">
      <dgm:prSet/>
      <dgm:spPr/>
      <dgm:t>
        <a:bodyPr/>
        <a:lstStyle/>
        <a:p>
          <a:endParaRPr lang="x-none"/>
        </a:p>
      </dgm:t>
    </dgm:pt>
    <dgm:pt modelId="{F3A705F7-37AD-4FD6-8644-F5D5BB474DED}">
      <dgm:prSet phldrT="[Текст]"/>
      <dgm:spPr>
        <a:solidFill>
          <a:srgbClr val="8E2E88"/>
        </a:solidFill>
      </dgm:spPr>
      <dgm:t>
        <a:bodyPr/>
        <a:lstStyle/>
        <a:p>
          <a:r>
            <a:rPr lang="ru-RU" dirty="0"/>
            <a:t>разработка более удобной и обширной справочной системы </a:t>
          </a:r>
          <a:endParaRPr lang="x-none" dirty="0"/>
        </a:p>
      </dgm:t>
    </dgm:pt>
    <dgm:pt modelId="{C8687759-69A0-4CE9-B8BF-8A9CB5AA1AAE}" type="parTrans" cxnId="{D415059C-FE76-4A36-9802-C3CF2E0C4C5C}">
      <dgm:prSet/>
      <dgm:spPr/>
      <dgm:t>
        <a:bodyPr/>
        <a:lstStyle/>
        <a:p>
          <a:endParaRPr lang="x-none"/>
        </a:p>
      </dgm:t>
    </dgm:pt>
    <dgm:pt modelId="{EBE3E0B6-3144-405E-81E0-A2A6690ABE46}" type="sibTrans" cxnId="{D415059C-FE76-4A36-9802-C3CF2E0C4C5C}">
      <dgm:prSet/>
      <dgm:spPr/>
      <dgm:t>
        <a:bodyPr/>
        <a:lstStyle/>
        <a:p>
          <a:endParaRPr lang="x-none"/>
        </a:p>
      </dgm:t>
    </dgm:pt>
    <dgm:pt modelId="{5C600ED5-1178-484D-BE5A-65962F89F812}">
      <dgm:prSet phldrT="[Текст]"/>
      <dgm:spPr>
        <a:solidFill>
          <a:srgbClr val="8E2E88"/>
        </a:solidFill>
      </dgm:spPr>
      <dgm:t>
        <a:bodyPr/>
        <a:lstStyle/>
        <a:p>
          <a:r>
            <a:rPr lang="ru-RU" b="0" i="0" u="none" dirty="0"/>
            <a:t>текстовое описание команд в подсказках</a:t>
          </a:r>
          <a:endParaRPr lang="x-none" dirty="0"/>
        </a:p>
      </dgm:t>
    </dgm:pt>
    <dgm:pt modelId="{53FD2C7C-7387-4D12-9ED9-AFF75663BCA7}" type="parTrans" cxnId="{4368BF45-C6EA-451A-A9B9-2E9ED5EC0686}">
      <dgm:prSet/>
      <dgm:spPr/>
      <dgm:t>
        <a:bodyPr/>
        <a:lstStyle/>
        <a:p>
          <a:endParaRPr lang="x-none"/>
        </a:p>
      </dgm:t>
    </dgm:pt>
    <dgm:pt modelId="{5D04CA02-68BA-467B-84D8-338345A49CEF}" type="sibTrans" cxnId="{4368BF45-C6EA-451A-A9B9-2E9ED5EC0686}">
      <dgm:prSet/>
      <dgm:spPr/>
      <dgm:t>
        <a:bodyPr/>
        <a:lstStyle/>
        <a:p>
          <a:endParaRPr lang="x-none"/>
        </a:p>
      </dgm:t>
    </dgm:pt>
    <dgm:pt modelId="{43CB46B8-515D-4859-A86B-D71F4BC721F3}">
      <dgm:prSet/>
      <dgm:spPr>
        <a:solidFill>
          <a:srgbClr val="8E2E88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ru-RU" b="0" i="0" u="none" dirty="0"/>
            <a:t>разработка под требования учебников следующих классов</a:t>
          </a:r>
          <a:endParaRPr lang="x-none" dirty="0"/>
        </a:p>
      </dgm:t>
    </dgm:pt>
    <dgm:pt modelId="{2F1770B3-195F-4DD5-AB03-FE762102D852}" type="parTrans" cxnId="{B8BA82F7-8AD5-4401-8FD4-760C072CDE7A}">
      <dgm:prSet/>
      <dgm:spPr/>
    </dgm:pt>
    <dgm:pt modelId="{25A0266F-19E9-4DA9-B6F8-773CAD91A0AF}" type="sibTrans" cxnId="{B8BA82F7-8AD5-4401-8FD4-760C072CDE7A}">
      <dgm:prSet/>
      <dgm:spPr/>
    </dgm:pt>
    <dgm:pt modelId="{EA3B1C51-123F-465F-9D66-4118857FED41}" type="pres">
      <dgm:prSet presAssocID="{303C076B-CDB7-4F55-A15F-09334E5D1CB3}" presName="diagram" presStyleCnt="0">
        <dgm:presLayoutVars>
          <dgm:dir/>
          <dgm:resizeHandles val="exact"/>
        </dgm:presLayoutVars>
      </dgm:prSet>
      <dgm:spPr/>
    </dgm:pt>
    <dgm:pt modelId="{FB2EA0C1-9AEE-4FC2-A9F8-E7922A5F944A}" type="pres">
      <dgm:prSet presAssocID="{BEAB7672-CADC-4FA5-AA98-E89A45AD26B0}" presName="node" presStyleLbl="node1" presStyleIdx="0" presStyleCnt="4">
        <dgm:presLayoutVars>
          <dgm:bulletEnabled val="1"/>
        </dgm:presLayoutVars>
      </dgm:prSet>
      <dgm:spPr/>
    </dgm:pt>
    <dgm:pt modelId="{21280596-55E4-49AD-80FE-823A14550E70}" type="pres">
      <dgm:prSet presAssocID="{BA52633C-5AC4-424C-B4CE-D934AE38DE23}" presName="sibTrans" presStyleCnt="0"/>
      <dgm:spPr/>
    </dgm:pt>
    <dgm:pt modelId="{74FDF2BF-3B14-4BFE-9AD8-52013A53D887}" type="pres">
      <dgm:prSet presAssocID="{F3A705F7-37AD-4FD6-8644-F5D5BB474DED}" presName="node" presStyleLbl="node1" presStyleIdx="1" presStyleCnt="4">
        <dgm:presLayoutVars>
          <dgm:bulletEnabled val="1"/>
        </dgm:presLayoutVars>
      </dgm:prSet>
      <dgm:spPr/>
    </dgm:pt>
    <dgm:pt modelId="{9DDC5054-ED80-4CBB-955A-9BFEFD3D0628}" type="pres">
      <dgm:prSet presAssocID="{EBE3E0B6-3144-405E-81E0-A2A6690ABE46}" presName="sibTrans" presStyleCnt="0"/>
      <dgm:spPr/>
    </dgm:pt>
    <dgm:pt modelId="{A6A0A846-30AA-4B13-8DF3-326F3B93123E}" type="pres">
      <dgm:prSet presAssocID="{5C600ED5-1178-484D-BE5A-65962F89F812}" presName="node" presStyleLbl="node1" presStyleIdx="2" presStyleCnt="4">
        <dgm:presLayoutVars>
          <dgm:bulletEnabled val="1"/>
        </dgm:presLayoutVars>
      </dgm:prSet>
      <dgm:spPr/>
    </dgm:pt>
    <dgm:pt modelId="{1B4CDBB6-9283-4598-8AA8-2EAAF096CF02}" type="pres">
      <dgm:prSet presAssocID="{5D04CA02-68BA-467B-84D8-338345A49CEF}" presName="sibTrans" presStyleCnt="0"/>
      <dgm:spPr/>
    </dgm:pt>
    <dgm:pt modelId="{D76A7131-A3FE-4560-AF04-AE8EA2E125C9}" type="pres">
      <dgm:prSet presAssocID="{43CB46B8-515D-4859-A86B-D71F4BC721F3}" presName="node" presStyleLbl="node1" presStyleIdx="3" presStyleCnt="4">
        <dgm:presLayoutVars>
          <dgm:bulletEnabled val="1"/>
        </dgm:presLayoutVars>
      </dgm:prSet>
      <dgm:spPr/>
    </dgm:pt>
  </dgm:ptLst>
  <dgm:cxnLst>
    <dgm:cxn modelId="{3B05330D-08C4-4484-9FC9-9E0BDCC2CD6C}" srcId="{303C076B-CDB7-4F55-A15F-09334E5D1CB3}" destId="{BEAB7672-CADC-4FA5-AA98-E89A45AD26B0}" srcOrd="0" destOrd="0" parTransId="{6D27A012-C122-40B0-BC8F-D0E90CE16AAB}" sibTransId="{BA52633C-5AC4-424C-B4CE-D934AE38DE23}"/>
    <dgm:cxn modelId="{F3FDF029-88D1-4D21-BFB8-7506727F569D}" type="presOf" srcId="{F3A705F7-37AD-4FD6-8644-F5D5BB474DED}" destId="{74FDF2BF-3B14-4BFE-9AD8-52013A53D887}" srcOrd="0" destOrd="0" presId="urn:microsoft.com/office/officeart/2005/8/layout/default"/>
    <dgm:cxn modelId="{4368BF45-C6EA-451A-A9B9-2E9ED5EC0686}" srcId="{303C076B-CDB7-4F55-A15F-09334E5D1CB3}" destId="{5C600ED5-1178-484D-BE5A-65962F89F812}" srcOrd="2" destOrd="0" parTransId="{53FD2C7C-7387-4D12-9ED9-AFF75663BCA7}" sibTransId="{5D04CA02-68BA-467B-84D8-338345A49CEF}"/>
    <dgm:cxn modelId="{6F30F286-C2F9-40F6-A6C6-62EEEA873F49}" type="presOf" srcId="{303C076B-CDB7-4F55-A15F-09334E5D1CB3}" destId="{EA3B1C51-123F-465F-9D66-4118857FED41}" srcOrd="0" destOrd="0" presId="urn:microsoft.com/office/officeart/2005/8/layout/default"/>
    <dgm:cxn modelId="{C38D719B-A11E-43F0-9B97-BA1B881C2DC8}" type="presOf" srcId="{43CB46B8-515D-4859-A86B-D71F4BC721F3}" destId="{D76A7131-A3FE-4560-AF04-AE8EA2E125C9}" srcOrd="0" destOrd="0" presId="urn:microsoft.com/office/officeart/2005/8/layout/default"/>
    <dgm:cxn modelId="{D415059C-FE76-4A36-9802-C3CF2E0C4C5C}" srcId="{303C076B-CDB7-4F55-A15F-09334E5D1CB3}" destId="{F3A705F7-37AD-4FD6-8644-F5D5BB474DED}" srcOrd="1" destOrd="0" parTransId="{C8687759-69A0-4CE9-B8BF-8A9CB5AA1AAE}" sibTransId="{EBE3E0B6-3144-405E-81E0-A2A6690ABE46}"/>
    <dgm:cxn modelId="{D53007A0-347E-4D1B-B664-BB49549830BD}" type="presOf" srcId="{BEAB7672-CADC-4FA5-AA98-E89A45AD26B0}" destId="{FB2EA0C1-9AEE-4FC2-A9F8-E7922A5F944A}" srcOrd="0" destOrd="0" presId="urn:microsoft.com/office/officeart/2005/8/layout/default"/>
    <dgm:cxn modelId="{7922F2F2-D558-406B-8700-F8E5105A5A53}" type="presOf" srcId="{5C600ED5-1178-484D-BE5A-65962F89F812}" destId="{A6A0A846-30AA-4B13-8DF3-326F3B93123E}" srcOrd="0" destOrd="0" presId="urn:microsoft.com/office/officeart/2005/8/layout/default"/>
    <dgm:cxn modelId="{B8BA82F7-8AD5-4401-8FD4-760C072CDE7A}" srcId="{303C076B-CDB7-4F55-A15F-09334E5D1CB3}" destId="{43CB46B8-515D-4859-A86B-D71F4BC721F3}" srcOrd="3" destOrd="0" parTransId="{2F1770B3-195F-4DD5-AB03-FE762102D852}" sibTransId="{25A0266F-19E9-4DA9-B6F8-773CAD91A0AF}"/>
    <dgm:cxn modelId="{A3CB557F-DDF1-4D95-A426-2BC1886EEC03}" type="presParOf" srcId="{EA3B1C51-123F-465F-9D66-4118857FED41}" destId="{FB2EA0C1-9AEE-4FC2-A9F8-E7922A5F944A}" srcOrd="0" destOrd="0" presId="urn:microsoft.com/office/officeart/2005/8/layout/default"/>
    <dgm:cxn modelId="{863B6777-4CD9-47E9-8476-DFFC21F21E20}" type="presParOf" srcId="{EA3B1C51-123F-465F-9D66-4118857FED41}" destId="{21280596-55E4-49AD-80FE-823A14550E70}" srcOrd="1" destOrd="0" presId="urn:microsoft.com/office/officeart/2005/8/layout/default"/>
    <dgm:cxn modelId="{91DF4E92-2EBE-4D71-B194-376FD7A413EA}" type="presParOf" srcId="{EA3B1C51-123F-465F-9D66-4118857FED41}" destId="{74FDF2BF-3B14-4BFE-9AD8-52013A53D887}" srcOrd="2" destOrd="0" presId="urn:microsoft.com/office/officeart/2005/8/layout/default"/>
    <dgm:cxn modelId="{A4B404F1-58AB-441B-B0AA-4140A04508D8}" type="presParOf" srcId="{EA3B1C51-123F-465F-9D66-4118857FED41}" destId="{9DDC5054-ED80-4CBB-955A-9BFEFD3D0628}" srcOrd="3" destOrd="0" presId="urn:microsoft.com/office/officeart/2005/8/layout/default"/>
    <dgm:cxn modelId="{15227EB1-0A06-4E9B-A05B-607D83D60F0B}" type="presParOf" srcId="{EA3B1C51-123F-465F-9D66-4118857FED41}" destId="{A6A0A846-30AA-4B13-8DF3-326F3B93123E}" srcOrd="4" destOrd="0" presId="urn:microsoft.com/office/officeart/2005/8/layout/default"/>
    <dgm:cxn modelId="{92BB8449-E093-4D4E-8962-683C54BE3747}" type="presParOf" srcId="{EA3B1C51-123F-465F-9D66-4118857FED41}" destId="{1B4CDBB6-9283-4598-8AA8-2EAAF096CF02}" srcOrd="5" destOrd="0" presId="urn:microsoft.com/office/officeart/2005/8/layout/default"/>
    <dgm:cxn modelId="{B6066801-12DB-4E15-A0AF-A6BF60D4684A}" type="presParOf" srcId="{EA3B1C51-123F-465F-9D66-4118857FED41}" destId="{D76A7131-A3FE-4560-AF04-AE8EA2E125C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66A843-B3B5-4D9E-A200-CA6A48890660}">
      <dsp:nvSpPr>
        <dsp:cNvPr id="0" name=""/>
        <dsp:cNvSpPr/>
      </dsp:nvSpPr>
      <dsp:spPr>
        <a:xfrm>
          <a:off x="3211" y="599906"/>
          <a:ext cx="2216888" cy="2207664"/>
        </a:xfrm>
        <a:prstGeom prst="roundRect">
          <a:avLst>
            <a:gd name="adj" fmla="val 10000"/>
          </a:avLst>
        </a:prstGeom>
        <a:solidFill>
          <a:srgbClr val="8E2E8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Roboto" pitchFamily="2" charset="0"/>
            </a:rPr>
            <a:t>В 2024/2025 учебном году изучение основ программирования в рамках учебного предмета “Информатика”  в школах Беларуси перешло с </a:t>
          </a:r>
          <a:r>
            <a:rPr lang="ru-RU" sz="1400" b="1" kern="12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Roboto" pitchFamily="2" charset="0"/>
            </a:rPr>
            <a:t>Pascal</a:t>
          </a:r>
          <a:r>
            <a:rPr lang="ru-RU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Roboto" pitchFamily="2" charset="0"/>
            </a:rPr>
            <a:t> на Python </a:t>
          </a:r>
          <a:endParaRPr lang="x-none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7871" y="664566"/>
        <a:ext cx="2087568" cy="2078344"/>
      </dsp:txXfrm>
    </dsp:sp>
    <dsp:sp modelId="{73CDC741-1498-49B2-B50B-83AAC0768CFB}">
      <dsp:nvSpPr>
        <dsp:cNvPr id="0" name=""/>
        <dsp:cNvSpPr/>
      </dsp:nvSpPr>
      <dsp:spPr>
        <a:xfrm rot="21573529">
          <a:off x="2405731" y="1462337"/>
          <a:ext cx="393563" cy="459843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1100" kern="1200"/>
        </a:p>
      </dsp:txBody>
      <dsp:txXfrm>
        <a:off x="2405733" y="1554761"/>
        <a:ext cx="275494" cy="275905"/>
      </dsp:txXfrm>
    </dsp:sp>
    <dsp:sp modelId="{8B8D46AA-13F4-42BE-BC96-8071121A4E72}">
      <dsp:nvSpPr>
        <dsp:cNvPr id="0" name=""/>
        <dsp:cNvSpPr/>
      </dsp:nvSpPr>
      <dsp:spPr>
        <a:xfrm>
          <a:off x="2962650" y="725699"/>
          <a:ext cx="1854206" cy="1913294"/>
        </a:xfrm>
        <a:prstGeom prst="roundRect">
          <a:avLst>
            <a:gd name="adj" fmla="val 10000"/>
          </a:avLst>
        </a:prstGeom>
        <a:solidFill>
          <a:srgbClr val="8E2E8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Roboto" pitchFamily="2" charset="0"/>
            </a:rPr>
            <a:t>Необходимость в адаптированной для обучения школьников среде программирования</a:t>
          </a:r>
          <a:endParaRPr lang="x-none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16958" y="780007"/>
        <a:ext cx="1745590" cy="1804678"/>
      </dsp:txXfrm>
    </dsp:sp>
    <dsp:sp modelId="{344FAE1C-F50B-407E-94D6-3B43F7B0152B}">
      <dsp:nvSpPr>
        <dsp:cNvPr id="0" name=""/>
        <dsp:cNvSpPr/>
      </dsp:nvSpPr>
      <dsp:spPr>
        <a:xfrm rot="49795">
          <a:off x="5003276" y="1471418"/>
          <a:ext cx="395295" cy="459843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1400" kern="1200">
            <a:solidFill>
              <a:schemeClr val="bg1"/>
            </a:solidFill>
          </a:endParaRPr>
        </a:p>
      </dsp:txBody>
      <dsp:txXfrm>
        <a:off x="5003282" y="1562528"/>
        <a:ext cx="276707" cy="275905"/>
      </dsp:txXfrm>
    </dsp:sp>
    <dsp:sp modelId="{849B6CDD-A29F-4563-9236-B1A026718085}">
      <dsp:nvSpPr>
        <dsp:cNvPr id="0" name=""/>
        <dsp:cNvSpPr/>
      </dsp:nvSpPr>
      <dsp:spPr>
        <a:xfrm>
          <a:off x="5562618" y="616177"/>
          <a:ext cx="1854206" cy="2207664"/>
        </a:xfrm>
        <a:prstGeom prst="roundRect">
          <a:avLst>
            <a:gd name="adj" fmla="val 10000"/>
          </a:avLst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1400" kern="1200"/>
        </a:p>
      </dsp:txBody>
      <dsp:txXfrm>
        <a:off x="5616926" y="670485"/>
        <a:ext cx="1745590" cy="2099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EA0C1-9AEE-4FC2-A9F8-E7922A5F944A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rgbClr val="8E2E8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u="none" kern="1200" dirty="0"/>
            <a:t>синхронизация библиотек на компьютерах учеников и учителя по локальной сети</a:t>
          </a:r>
          <a:endParaRPr lang="x-none" sz="2200" kern="1200" dirty="0"/>
        </a:p>
      </dsp:txBody>
      <dsp:txXfrm>
        <a:off x="744" y="145603"/>
        <a:ext cx="2902148" cy="1741289"/>
      </dsp:txXfrm>
    </dsp:sp>
    <dsp:sp modelId="{74FDF2BF-3B14-4BFE-9AD8-52013A53D887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rgbClr val="8E2E8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разработка более удобной и обширной справочной системы </a:t>
          </a:r>
          <a:endParaRPr lang="x-none" sz="2200" kern="1200" dirty="0"/>
        </a:p>
      </dsp:txBody>
      <dsp:txXfrm>
        <a:off x="3193107" y="145603"/>
        <a:ext cx="2902148" cy="1741289"/>
      </dsp:txXfrm>
    </dsp:sp>
    <dsp:sp modelId="{A6A0A846-30AA-4B13-8DF3-326F3B93123E}">
      <dsp:nvSpPr>
        <dsp:cNvPr id="0" name=""/>
        <dsp:cNvSpPr/>
      </dsp:nvSpPr>
      <dsp:spPr>
        <a:xfrm>
          <a:off x="744" y="2177107"/>
          <a:ext cx="2902148" cy="1741289"/>
        </a:xfrm>
        <a:prstGeom prst="rect">
          <a:avLst/>
        </a:prstGeom>
        <a:solidFill>
          <a:srgbClr val="8E2E8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u="none" kern="1200" dirty="0"/>
            <a:t>текстовое описание команд в подсказках</a:t>
          </a:r>
          <a:endParaRPr lang="x-none" sz="2200" kern="1200" dirty="0"/>
        </a:p>
      </dsp:txBody>
      <dsp:txXfrm>
        <a:off x="744" y="2177107"/>
        <a:ext cx="2902148" cy="1741289"/>
      </dsp:txXfrm>
    </dsp:sp>
    <dsp:sp modelId="{D76A7131-A3FE-4560-AF04-AE8EA2E125C9}">
      <dsp:nvSpPr>
        <dsp:cNvPr id="0" name=""/>
        <dsp:cNvSpPr/>
      </dsp:nvSpPr>
      <dsp:spPr>
        <a:xfrm>
          <a:off x="3193107" y="2177107"/>
          <a:ext cx="2902148" cy="1741289"/>
        </a:xfrm>
        <a:prstGeom prst="rect">
          <a:avLst/>
        </a:prstGeom>
        <a:solidFill>
          <a:srgbClr val="8E2E8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200" b="0" i="0" u="none" kern="1200" dirty="0"/>
            <a:t>разработка под требования учебников следующих классов</a:t>
          </a:r>
          <a:endParaRPr lang="x-none" sz="2200" kern="1200" dirty="0"/>
        </a:p>
      </dsp:txBody>
      <dsp:txXfrm>
        <a:off x="3193107" y="2177107"/>
        <a:ext cx="2902148" cy="1741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93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28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7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74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08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45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19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53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32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840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6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DDDB9-8272-4BDC-84B6-F5573610F9E2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15175-16FB-4537-8F6D-493CAEA6BD1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8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690628" y="708667"/>
            <a:ext cx="3744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Павел</a:t>
            </a:r>
          </a:p>
          <a:p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Корнеев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896" y="2462993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Roboto" pitchFamily="2" charset="0"/>
              </a:rPr>
              <a:t>Студент факультета информационных технологий и робототехники, группа ИТ-13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14984" y="3998896"/>
            <a:ext cx="113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Roboto" pitchFamily="2" charset="0"/>
              </a:rPr>
              <a:t>ПРОЕКТ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592" y="3089633"/>
            <a:ext cx="25862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Vuzhyk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6F6F36EE-3E0F-4AE3-973B-A56B4F155720}"/>
              </a:ext>
            </a:extLst>
          </p:cNvPr>
          <p:cNvSpPr txBox="1"/>
          <p:nvPr/>
        </p:nvSpPr>
        <p:spPr>
          <a:xfrm>
            <a:off x="3716524" y="264550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Roboto" pitchFamily="2" charset="0"/>
              </a:rPr>
              <a:t>Витебский государственный</a:t>
            </a:r>
          </a:p>
          <a:p>
            <a:r>
              <a:rPr lang="ru-RU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Roboto" pitchFamily="2" charset="0"/>
              </a:rPr>
              <a:t>технологический университет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4FE9A2-6D06-4F34-BB30-8687D48FABE9}"/>
              </a:ext>
            </a:extLst>
          </p:cNvPr>
          <p:cNvSpPr txBox="1"/>
          <p:nvPr/>
        </p:nvSpPr>
        <p:spPr>
          <a:xfrm>
            <a:off x="899592" y="3867894"/>
            <a:ext cx="561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интегрированная среда разработки для Python, предназначенная для уроков информатики в учреждениях общего среднего образования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069970-5F0E-46F1-BE6B-52793AF4A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52" y="348005"/>
            <a:ext cx="3075772" cy="3075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1A129E-482A-4330-8C21-192ABFCD0A9F}"/>
              </a:ext>
            </a:extLst>
          </p:cNvPr>
          <p:cNvSpPr txBox="1"/>
          <p:nvPr/>
        </p:nvSpPr>
        <p:spPr>
          <a:xfrm>
            <a:off x="539552" y="267494"/>
            <a:ext cx="4392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Актуальность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85F79093-60B1-47BE-AD44-5907BF4156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7125278"/>
              </p:ext>
            </p:extLst>
          </p:nvPr>
        </p:nvGraphicFramePr>
        <p:xfrm>
          <a:off x="323528" y="838252"/>
          <a:ext cx="7416824" cy="336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B600CD-A0FD-4774-9AD7-06C1906B77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07039">
            <a:off x="2040534" y="3468351"/>
            <a:ext cx="1100901" cy="143595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BE0C507-6FF8-446D-94B9-33788FF1B3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480871">
            <a:off x="2840309" y="3366343"/>
            <a:ext cx="1150352" cy="148815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7D6829D-B5BD-4093-85FC-A89E015E51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356" y="1724786"/>
            <a:ext cx="1787242" cy="17872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2E14A7-7C3C-4892-8873-385AA563D266}"/>
              </a:ext>
            </a:extLst>
          </p:cNvPr>
          <p:cNvSpPr txBox="1"/>
          <p:nvPr/>
        </p:nvSpPr>
        <p:spPr>
          <a:xfrm>
            <a:off x="5681266" y="1275606"/>
            <a:ext cx="1709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Vuzhyk</a:t>
            </a: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381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младший научный сотрудник Института микробиологии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itchFamily="2" charset="0"/>
                <a:ea typeface="Roboto" pitchFamily="2" charset="0"/>
                <a:cs typeface="+mn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Roboto" pitchFamily="2" charset="0"/>
                <a:cs typeface="+mn-cs"/>
              </a:rPr>
              <a:t>Преимущества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40E9E-5252-4B95-ADB5-BEAFBDABC721}"/>
              </a:ext>
            </a:extLst>
          </p:cNvPr>
          <p:cNvSpPr txBox="1"/>
          <p:nvPr/>
        </p:nvSpPr>
        <p:spPr>
          <a:xfrm>
            <a:off x="408484" y="862722"/>
            <a:ext cx="616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Roboto" pitchFamily="2" charset="0"/>
                <a:cs typeface="+mn-cs"/>
              </a:rPr>
              <a:t>Форк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Roboto" pitchFamily="2" charset="0"/>
                <a:cs typeface="+mn-cs"/>
              </a:rPr>
              <a:t> библиотеки Черепашка  с сеткой и осями координат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534B4C-1B15-4040-AB40-086DA8806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380609"/>
            <a:ext cx="4383410" cy="350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2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257300" y="363603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Преимущества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40E9E-5252-4B95-ADB5-BEAFBDABC721}"/>
              </a:ext>
            </a:extLst>
          </p:cNvPr>
          <p:cNvSpPr txBox="1"/>
          <p:nvPr/>
        </p:nvSpPr>
        <p:spPr>
          <a:xfrm>
            <a:off x="4247964" y="910924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Встроенный задачник для Робота</a:t>
            </a:r>
          </a:p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с заданиями из учебника 7 класса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E2E42F-2D1C-4F40-B1EF-4BC4655E9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664396"/>
            <a:ext cx="4392488" cy="32973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B92AEF-573E-46A1-8693-2240B58FD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00" y="1664396"/>
            <a:ext cx="3839135" cy="28378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9D0ADA-DAD2-4413-8150-83914F6B4766}"/>
              </a:ext>
            </a:extLst>
          </p:cNvPr>
          <p:cNvSpPr txBox="1"/>
          <p:nvPr/>
        </p:nvSpPr>
        <p:spPr>
          <a:xfrm>
            <a:off x="257300" y="940393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Файлы с заданиями Робота, </a:t>
            </a:r>
          </a:p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разработанные МФТИ</a:t>
            </a:r>
          </a:p>
        </p:txBody>
      </p:sp>
    </p:spTree>
    <p:extLst>
      <p:ext uri="{BB962C8B-B14F-4D97-AF65-F5344CB8AC3E}">
        <p14:creationId xmlns:p14="http://schemas.microsoft.com/office/powerpoint/2010/main" val="69768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Преимущества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40E9E-5252-4B95-ADB5-BEAFBDABC721}"/>
              </a:ext>
            </a:extLst>
          </p:cNvPr>
          <p:cNvSpPr txBox="1"/>
          <p:nvPr/>
        </p:nvSpPr>
        <p:spPr>
          <a:xfrm>
            <a:off x="408484" y="862722"/>
            <a:ext cx="7835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Редактор задач, позволяющий создавать собственные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DA78B9-BBBE-4A22-AA9F-11A364AE7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405" y="1232054"/>
            <a:ext cx="5010081" cy="376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8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Преимущества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40E9E-5252-4B95-ADB5-BEAFBDABC721}"/>
              </a:ext>
            </a:extLst>
          </p:cNvPr>
          <p:cNvSpPr txBox="1"/>
          <p:nvPr/>
        </p:nvSpPr>
        <p:spPr>
          <a:xfrm>
            <a:off x="408484" y="862722"/>
            <a:ext cx="7835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Справочная система по Python, справка для 6 и 7 класса, электронные версии учебников для 6-7 классов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4C833D-9B2C-4C36-B3CE-3A7B25BC0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895" y="1509053"/>
            <a:ext cx="4650041" cy="349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15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Преимущества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40E9E-5252-4B95-ADB5-BEAFBDABC721}"/>
              </a:ext>
            </a:extLst>
          </p:cNvPr>
          <p:cNvSpPr txBox="1"/>
          <p:nvPr/>
        </p:nvSpPr>
        <p:spPr>
          <a:xfrm>
            <a:off x="408484" y="862722"/>
            <a:ext cx="7835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Интуитивный интерфейс, настроенный под школьников</a:t>
            </a:r>
          </a:p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 с возможностью персонализации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F9F890-7873-4D70-A9B8-AF3733B84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563638"/>
            <a:ext cx="4372719" cy="335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83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Преимущества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40E9E-5252-4B95-ADB5-BEAFBDABC721}"/>
              </a:ext>
            </a:extLst>
          </p:cNvPr>
          <p:cNvSpPr txBox="1"/>
          <p:nvPr/>
        </p:nvSpPr>
        <p:spPr>
          <a:xfrm>
            <a:off x="408484" y="896833"/>
            <a:ext cx="3407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Отсутствуют ошибки  в работе </a:t>
            </a:r>
          </a:p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окна Робота, встречающиеся </a:t>
            </a:r>
          </a:p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в некоторых средах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33DA4-C621-4F01-AF71-08B8AEE3C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45" y="2223607"/>
            <a:ext cx="2662565" cy="28216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DFF449-DCDB-4F16-981B-040BAD157C36}"/>
              </a:ext>
            </a:extLst>
          </p:cNvPr>
          <p:cNvSpPr txBox="1"/>
          <p:nvPr/>
        </p:nvSpPr>
        <p:spPr>
          <a:xfrm>
            <a:off x="3815916" y="1847606"/>
            <a:ext cx="258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Vuzhyk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без ошибки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EB098-7DA5-400D-8325-E5940D4ECE69}"/>
              </a:ext>
            </a:extLst>
          </p:cNvPr>
          <p:cNvSpPr txBox="1"/>
          <p:nvPr/>
        </p:nvSpPr>
        <p:spPr>
          <a:xfrm>
            <a:off x="408484" y="1854275"/>
            <a:ext cx="258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Работа с ошибкой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A1BEE3B-83AF-46BD-92A2-DCB21F5E9B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530" y="2223607"/>
            <a:ext cx="2804953" cy="28049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654A29-EE83-4A2A-967B-C3E8606E5CBC}"/>
              </a:ext>
            </a:extLst>
          </p:cNvPr>
          <p:cNvSpPr txBox="1"/>
          <p:nvPr/>
        </p:nvSpPr>
        <p:spPr>
          <a:xfrm>
            <a:off x="3966280" y="862722"/>
            <a:ext cx="25862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a typeface="Roboto" pitchFamily="2" charset="0"/>
              </a:rPr>
              <a:t>Реализован запуск на выполнение без сохранения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61330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a typeface="Roboto" pitchFamily="2" charset="0"/>
              </a:rPr>
              <a:t>Набор функций, используемых в профессиональных средах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Roboto" pitchFamily="2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E29E17-89C7-46C3-82DE-3AC4240F6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916" y="1492747"/>
            <a:ext cx="3096344" cy="23773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CF0743-801E-470C-8139-941684A21EA2}"/>
              </a:ext>
            </a:extLst>
          </p:cNvPr>
          <p:cNvSpPr txBox="1"/>
          <p:nvPr/>
        </p:nvSpPr>
        <p:spPr>
          <a:xfrm>
            <a:off x="362270" y="1430639"/>
            <a:ext cx="457200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подсветка синтаксиса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автодополнение</a:t>
            </a:r>
            <a:r>
              <a:rPr lang="ru-RU" dirty="0">
                <a:solidFill>
                  <a:schemeClr val="bg1"/>
                </a:solidFill>
              </a:rPr>
              <a:t> инструкций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подсветка ошибок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интегрированный терминал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горячие клавиши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пошаговое выполнение кода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автоматические отступы и выравнивание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ru-B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313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a typeface="Roboto" pitchFamily="2" charset="0"/>
              </a:rPr>
              <a:t>Потребление оперативной памяти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Roboto" pitchFamily="2" charset="0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9F72433C-EF5E-49B4-BC62-7E63617323E6}"/>
              </a:ext>
            </a:extLst>
          </p:cNvPr>
          <p:cNvGrpSpPr/>
          <p:nvPr/>
        </p:nvGrpSpPr>
        <p:grpSpPr>
          <a:xfrm>
            <a:off x="2121996" y="1054501"/>
            <a:ext cx="4572193" cy="1784271"/>
            <a:chOff x="899592" y="998335"/>
            <a:chExt cx="4572193" cy="1784271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D6012652-250C-45C5-B3B2-277B3251E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92" y="998335"/>
              <a:ext cx="4572193" cy="1784271"/>
            </a:xfrm>
            <a:prstGeom prst="rect">
              <a:avLst/>
            </a:prstGeom>
          </p:spPr>
        </p:pic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7C574109-C9C5-4556-A378-7FE7ED84EA23}"/>
                </a:ext>
              </a:extLst>
            </p:cNvPr>
            <p:cNvSpPr/>
            <p:nvPr/>
          </p:nvSpPr>
          <p:spPr>
            <a:xfrm>
              <a:off x="971599" y="2355726"/>
              <a:ext cx="4468321" cy="360040"/>
            </a:xfrm>
            <a:prstGeom prst="roundRect">
              <a:avLst/>
            </a:prstGeom>
            <a:noFill/>
            <a:ln w="38100">
              <a:solidFill>
                <a:srgbClr val="D245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7692CCB-9E6B-4625-8E98-20F8B9D008FD}"/>
              </a:ext>
            </a:extLst>
          </p:cNvPr>
          <p:cNvGrpSpPr/>
          <p:nvPr/>
        </p:nvGrpSpPr>
        <p:grpSpPr>
          <a:xfrm>
            <a:off x="2130128" y="3005096"/>
            <a:ext cx="4540329" cy="1800200"/>
            <a:chOff x="899592" y="3003798"/>
            <a:chExt cx="4540329" cy="1800200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2A15D503-EFD0-4ACE-B199-88B8544F4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92" y="3003798"/>
              <a:ext cx="4540329" cy="1800200"/>
            </a:xfrm>
            <a:prstGeom prst="rect">
              <a:avLst/>
            </a:prstGeom>
          </p:spPr>
        </p:pic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9A255B34-09FA-4186-A07A-2316B587053D}"/>
                </a:ext>
              </a:extLst>
            </p:cNvPr>
            <p:cNvSpPr/>
            <p:nvPr/>
          </p:nvSpPr>
          <p:spPr>
            <a:xfrm>
              <a:off x="951527" y="4371950"/>
              <a:ext cx="4468321" cy="360040"/>
            </a:xfrm>
            <a:prstGeom prst="roundRect">
              <a:avLst/>
            </a:prstGeom>
            <a:noFill/>
            <a:ln w="38100">
              <a:solidFill>
                <a:srgbClr val="D245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9FE18AD-5183-473B-A42F-62A7EBD024D0}"/>
              </a:ext>
            </a:extLst>
          </p:cNvPr>
          <p:cNvSpPr txBox="1"/>
          <p:nvPr/>
        </p:nvSpPr>
        <p:spPr>
          <a:xfrm>
            <a:off x="-427089" y="987574"/>
            <a:ext cx="258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 запуске: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8CB9D-654E-418F-ACFB-498B9FF7F839}"/>
              </a:ext>
            </a:extLst>
          </p:cNvPr>
          <p:cNvSpPr txBox="1"/>
          <p:nvPr/>
        </p:nvSpPr>
        <p:spPr>
          <a:xfrm>
            <a:off x="-474552" y="2859782"/>
            <a:ext cx="2586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Открыто </a:t>
            </a:r>
          </a:p>
          <a:p>
            <a:pPr algn="r"/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скриптов:</a:t>
            </a:r>
          </a:p>
        </p:txBody>
      </p:sp>
    </p:spTree>
    <p:extLst>
      <p:ext uri="{BB962C8B-B14F-4D97-AF65-F5344CB8AC3E}">
        <p14:creationId xmlns:p14="http://schemas.microsoft.com/office/powerpoint/2010/main" val="424992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a typeface="Roboto" pitchFamily="2" charset="0"/>
              </a:rPr>
              <a:t>Кроссплатформенность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Roboto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3A0AD2-3310-4E62-8209-0FF6CBE822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658" y="862722"/>
            <a:ext cx="3648844" cy="23979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ECD184-79C8-4C89-AEF8-6D54D0C39935}"/>
              </a:ext>
            </a:extLst>
          </p:cNvPr>
          <p:cNvSpPr txBox="1"/>
          <p:nvPr/>
        </p:nvSpPr>
        <p:spPr>
          <a:xfrm>
            <a:off x="114005" y="1175843"/>
            <a:ext cx="14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Windows 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7+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0BDCA06-E92B-4CD5-B64B-ACBC1E4372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40" y="1556585"/>
            <a:ext cx="974307" cy="97430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1302923-8378-4323-B628-68DBC4D07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8" y="1584398"/>
            <a:ext cx="1125180" cy="93052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07B2AE3-15DB-4E58-B644-CF2001B0EA0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318101"/>
            <a:ext cx="1665329" cy="166532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D3CC2F3-5254-4918-A66D-4A6BE30B3EC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5708" y="3345560"/>
            <a:ext cx="2290703" cy="152713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CA78C04-603A-4CE9-BF47-2A22F5B3B8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089" y="3495050"/>
            <a:ext cx="976024" cy="97793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CB06B75-246B-4D27-A2B7-38CA535BFED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278" y="3289969"/>
            <a:ext cx="1277503" cy="127750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46D6D01-8B66-430A-8694-1CCB3864E4E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946" y="3297888"/>
            <a:ext cx="1277503" cy="1277503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2318DC40-52CC-4236-A91C-DB355CCD8F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91" y="1564945"/>
            <a:ext cx="974307" cy="97430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541570E-0C1E-429D-9228-80C7F8E95F5B}"/>
              </a:ext>
            </a:extLst>
          </p:cNvPr>
          <p:cNvSpPr txBox="1"/>
          <p:nvPr/>
        </p:nvSpPr>
        <p:spPr>
          <a:xfrm>
            <a:off x="1666781" y="2588546"/>
            <a:ext cx="1465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Portable</a:t>
            </a:r>
            <a:endParaRPr lang="ru-RU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870E09-7580-4184-976E-B7518E4F9A37}"/>
              </a:ext>
            </a:extLst>
          </p:cNvPr>
          <p:cNvSpPr txBox="1"/>
          <p:nvPr/>
        </p:nvSpPr>
        <p:spPr>
          <a:xfrm>
            <a:off x="3203848" y="2580291"/>
            <a:ext cx="1465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Installable</a:t>
            </a:r>
            <a:endParaRPr lang="ru-RU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10D9E7-F4F9-428A-9B10-4F3A6E408F15}"/>
              </a:ext>
            </a:extLst>
          </p:cNvPr>
          <p:cNvSpPr txBox="1"/>
          <p:nvPr/>
        </p:nvSpPr>
        <p:spPr>
          <a:xfrm>
            <a:off x="83984" y="3160894"/>
            <a:ext cx="14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Linux</a:t>
            </a:r>
            <a:endParaRPr lang="ru-R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9D75E8-D783-44E6-B32D-F3946AFBA078}"/>
              </a:ext>
            </a:extLst>
          </p:cNvPr>
          <p:cNvSpPr txBox="1"/>
          <p:nvPr/>
        </p:nvSpPr>
        <p:spPr>
          <a:xfrm>
            <a:off x="1212465" y="4436819"/>
            <a:ext cx="1465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pkg.tar.zst</a:t>
            </a:r>
            <a:endParaRPr lang="ru-RU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A1BC0D-F7C6-4DCE-AF3C-9928D358CEFC}"/>
              </a:ext>
            </a:extLst>
          </p:cNvPr>
          <p:cNvSpPr txBox="1"/>
          <p:nvPr/>
        </p:nvSpPr>
        <p:spPr>
          <a:xfrm>
            <a:off x="2417499" y="4496221"/>
            <a:ext cx="1465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.deb</a:t>
            </a:r>
            <a:endParaRPr lang="ru-RU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F5457F-618E-4273-90CE-197AB7439636}"/>
              </a:ext>
            </a:extLst>
          </p:cNvPr>
          <p:cNvSpPr txBox="1"/>
          <p:nvPr/>
        </p:nvSpPr>
        <p:spPr>
          <a:xfrm>
            <a:off x="3745167" y="4458392"/>
            <a:ext cx="1465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AppImage</a:t>
            </a:r>
            <a:endParaRPr lang="ru-RU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9127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a typeface="Roboto" pitchFamily="2" charset="0"/>
              </a:rPr>
              <a:t>Описание стадии развития проекта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61258E-11B9-423A-AAF0-931C2D9AB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862722"/>
            <a:ext cx="4844212" cy="41918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C2DF58-5E1E-44AD-B36C-925CE455E7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5" y="862722"/>
            <a:ext cx="1037937" cy="103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93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27F899-B4F0-4677-A0BD-9E225B7666B5}"/>
              </a:ext>
            </a:extLst>
          </p:cNvPr>
          <p:cNvSpPr txBox="1"/>
          <p:nvPr/>
        </p:nvSpPr>
        <p:spPr>
          <a:xfrm>
            <a:off x="395536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a typeface="Roboto" pitchFamily="2" charset="0"/>
              </a:rPr>
              <a:t>Перспективы развития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1C5B4FE4-713D-42E6-AEF3-1F28CB1654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197827"/>
              </p:ext>
            </p:extLst>
          </p:nvPr>
        </p:nvGraphicFramePr>
        <p:xfrm>
          <a:off x="971600" y="91556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8FF2AE-514B-4C6E-97C7-74D8DEA5903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95" y="987574"/>
            <a:ext cx="749905" cy="74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78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034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019" y="1864811"/>
            <a:ext cx="5555937" cy="2616426"/>
          </a:xfrm>
          <a:prstGeom prst="rect">
            <a:avLst/>
          </a:prstGeom>
          <a:solidFill>
            <a:srgbClr val="ED5DE2"/>
          </a:solidFill>
        </p:spPr>
      </p:sp>
      <p:sp>
        <p:nvSpPr>
          <p:cNvPr id="3" name="AutoShape 3"/>
          <p:cNvSpPr/>
          <p:nvPr/>
        </p:nvSpPr>
        <p:spPr>
          <a:xfrm flipH="1">
            <a:off x="1340671" y="1846317"/>
            <a:ext cx="3181" cy="2643474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402750" y="1853461"/>
            <a:ext cx="33052" cy="263633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483317" y="1853461"/>
            <a:ext cx="0" cy="2627777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264690" y="1853461"/>
            <a:ext cx="0" cy="2642772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264690" y="1846317"/>
            <a:ext cx="1084341" cy="228605"/>
          </a:xfrm>
          <a:prstGeom prst="rect">
            <a:avLst/>
          </a:prstGeom>
          <a:solidFill>
            <a:srgbClr val="FFEF81"/>
          </a:solidFill>
        </p:spPr>
      </p:sp>
      <p:sp>
        <p:nvSpPr>
          <p:cNvPr id="8" name="AutoShape 8"/>
          <p:cNvSpPr/>
          <p:nvPr/>
        </p:nvSpPr>
        <p:spPr>
          <a:xfrm>
            <a:off x="270643" y="4489791"/>
            <a:ext cx="8601523" cy="6442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264690" y="1853461"/>
            <a:ext cx="429791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23172" y="1197317"/>
            <a:ext cx="1336579" cy="422781"/>
            <a:chOff x="0" y="0"/>
            <a:chExt cx="16983353" cy="5372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83353" cy="5372100"/>
            </a:xfrm>
            <a:custGeom>
              <a:avLst/>
              <a:gdLst/>
              <a:ahLst/>
              <a:cxnLst/>
              <a:rect l="l" t="t" r="r" b="b"/>
              <a:pathLst>
                <a:path w="16983353" h="5372100">
                  <a:moveTo>
                    <a:pt x="15432683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5432683" y="5372100"/>
                  </a:lnTo>
                  <a:lnTo>
                    <a:pt x="16983353" y="2686050"/>
                  </a:lnTo>
                  <a:lnTo>
                    <a:pt x="15432683" y="0"/>
                  </a:lnTo>
                  <a:close/>
                </a:path>
              </a:pathLst>
            </a:custGeom>
            <a:solidFill>
              <a:srgbClr val="FAF5F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27197" y="1197317"/>
            <a:ext cx="1336579" cy="422781"/>
            <a:chOff x="0" y="0"/>
            <a:chExt cx="16983353" cy="5372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83353" cy="5372100"/>
            </a:xfrm>
            <a:custGeom>
              <a:avLst/>
              <a:gdLst/>
              <a:ahLst/>
              <a:cxnLst/>
              <a:rect l="l" t="t" r="r" b="b"/>
              <a:pathLst>
                <a:path w="16983353" h="5372100">
                  <a:moveTo>
                    <a:pt x="15432683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5432683" y="5372100"/>
                  </a:lnTo>
                  <a:lnTo>
                    <a:pt x="16983353" y="2686050"/>
                  </a:lnTo>
                  <a:lnTo>
                    <a:pt x="15432683" y="0"/>
                  </a:lnTo>
                  <a:close/>
                </a:path>
              </a:pathLst>
            </a:custGeom>
            <a:solidFill>
              <a:srgbClr val="FFEF81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2532852" y="1197317"/>
            <a:ext cx="1336579" cy="422781"/>
            <a:chOff x="0" y="0"/>
            <a:chExt cx="16983353" cy="5372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83353" cy="5372100"/>
            </a:xfrm>
            <a:custGeom>
              <a:avLst/>
              <a:gdLst/>
              <a:ahLst/>
              <a:cxnLst/>
              <a:rect l="l" t="t" r="r" b="b"/>
              <a:pathLst>
                <a:path w="16983353" h="5372100">
                  <a:moveTo>
                    <a:pt x="15432683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5432683" y="5372100"/>
                  </a:lnTo>
                  <a:lnTo>
                    <a:pt x="16983353" y="2686050"/>
                  </a:lnTo>
                  <a:lnTo>
                    <a:pt x="15432683" y="0"/>
                  </a:lnTo>
                  <a:close/>
                </a:path>
              </a:pathLst>
            </a:custGeom>
            <a:solidFill>
              <a:srgbClr val="FAF5F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593253" y="1197317"/>
            <a:ext cx="1336579" cy="422781"/>
            <a:chOff x="0" y="0"/>
            <a:chExt cx="16983353" cy="5372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983353" cy="5372100"/>
            </a:xfrm>
            <a:custGeom>
              <a:avLst/>
              <a:gdLst/>
              <a:ahLst/>
              <a:cxnLst/>
              <a:rect l="l" t="t" r="r" b="b"/>
              <a:pathLst>
                <a:path w="16983353" h="5372100">
                  <a:moveTo>
                    <a:pt x="15432683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5432683" y="5372100"/>
                  </a:lnTo>
                  <a:lnTo>
                    <a:pt x="16983353" y="2686050"/>
                  </a:lnTo>
                  <a:lnTo>
                    <a:pt x="15432683" y="0"/>
                  </a:lnTo>
                  <a:close/>
                </a:path>
              </a:pathLst>
            </a:custGeom>
            <a:solidFill>
              <a:srgbClr val="FFEF81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3351728" y="2081204"/>
            <a:ext cx="1346901" cy="15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260"/>
              </a:lnSpc>
              <a:spcBef>
                <a:spcPct val="0"/>
              </a:spcBef>
            </a:pPr>
            <a:r>
              <a:rPr lang="en-US" sz="899" b="1" spc="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Разработка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8054" y="1301552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декабрь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618728" y="1197192"/>
            <a:ext cx="1336579" cy="422781"/>
            <a:chOff x="0" y="0"/>
            <a:chExt cx="16983353" cy="5372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983353" cy="5372100"/>
            </a:xfrm>
            <a:custGeom>
              <a:avLst/>
              <a:gdLst/>
              <a:ahLst/>
              <a:cxnLst/>
              <a:rect l="l" t="t" r="r" b="b"/>
              <a:pathLst>
                <a:path w="16983353" h="5372100">
                  <a:moveTo>
                    <a:pt x="15432683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5432683" y="5372100"/>
                  </a:lnTo>
                  <a:lnTo>
                    <a:pt x="16983353" y="2686050"/>
                  </a:lnTo>
                  <a:lnTo>
                    <a:pt x="15432683" y="0"/>
                  </a:lnTo>
                  <a:close/>
                </a:path>
              </a:pathLst>
            </a:custGeom>
            <a:solidFill>
              <a:srgbClr val="FAF5F4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4876170" y="1288263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январь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606115" y="1199699"/>
            <a:ext cx="1336579" cy="422781"/>
            <a:chOff x="0" y="0"/>
            <a:chExt cx="16983353" cy="5372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983353" cy="5372100"/>
            </a:xfrm>
            <a:custGeom>
              <a:avLst/>
              <a:gdLst/>
              <a:ahLst/>
              <a:cxnLst/>
              <a:rect l="l" t="t" r="r" b="b"/>
              <a:pathLst>
                <a:path w="16983353" h="5372100">
                  <a:moveTo>
                    <a:pt x="15432683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5432683" y="5372100"/>
                  </a:lnTo>
                  <a:lnTo>
                    <a:pt x="16983353" y="2686050"/>
                  </a:lnTo>
                  <a:lnTo>
                    <a:pt x="15432683" y="0"/>
                  </a:lnTo>
                  <a:close/>
                </a:path>
              </a:pathLst>
            </a:custGeom>
            <a:solidFill>
              <a:srgbClr val="FFEF81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626512" y="1197317"/>
            <a:ext cx="1336579" cy="422781"/>
            <a:chOff x="0" y="0"/>
            <a:chExt cx="16983353" cy="5372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983353" cy="5372100"/>
            </a:xfrm>
            <a:custGeom>
              <a:avLst/>
              <a:gdLst/>
              <a:ahLst/>
              <a:cxnLst/>
              <a:rect l="l" t="t" r="r" b="b"/>
              <a:pathLst>
                <a:path w="16983353" h="5372100">
                  <a:moveTo>
                    <a:pt x="15432683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5432683" y="5372100"/>
                  </a:lnTo>
                  <a:lnTo>
                    <a:pt x="16983353" y="2686050"/>
                  </a:lnTo>
                  <a:lnTo>
                    <a:pt x="15432683" y="0"/>
                  </a:lnTo>
                  <a:close/>
                </a:path>
              </a:pathLst>
            </a:custGeom>
            <a:solidFill>
              <a:srgbClr val="FAF5F4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6794735" y="1280579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август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5749677" y="1853461"/>
            <a:ext cx="0" cy="2642772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flipH="1">
            <a:off x="6705169" y="1860605"/>
            <a:ext cx="7144" cy="2620633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7792880" y="1860605"/>
            <a:ext cx="0" cy="2171986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4611584" y="1846746"/>
            <a:ext cx="0" cy="2643045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1340671" y="2062195"/>
            <a:ext cx="6452209" cy="254059"/>
          </a:xfrm>
          <a:prstGeom prst="rect">
            <a:avLst/>
          </a:prstGeom>
          <a:solidFill>
            <a:srgbClr val="CD4A42"/>
          </a:solidFill>
        </p:spPr>
      </p:sp>
      <p:sp>
        <p:nvSpPr>
          <p:cNvPr id="33" name="AutoShape 33"/>
          <p:cNvSpPr/>
          <p:nvPr/>
        </p:nvSpPr>
        <p:spPr>
          <a:xfrm>
            <a:off x="3167251" y="2315519"/>
            <a:ext cx="2582426" cy="493077"/>
          </a:xfrm>
          <a:prstGeom prst="rect">
            <a:avLst/>
          </a:prstGeom>
          <a:solidFill>
            <a:srgbClr val="FFEF81"/>
          </a:solidFill>
        </p:spPr>
      </p:sp>
      <p:sp>
        <p:nvSpPr>
          <p:cNvPr id="34" name="AutoShape 34"/>
          <p:cNvSpPr/>
          <p:nvPr/>
        </p:nvSpPr>
        <p:spPr>
          <a:xfrm>
            <a:off x="5756820" y="3432358"/>
            <a:ext cx="3122490" cy="422786"/>
          </a:xfrm>
          <a:prstGeom prst="rect">
            <a:avLst/>
          </a:prstGeom>
          <a:solidFill>
            <a:srgbClr val="CD4A42"/>
          </a:solidFill>
        </p:spPr>
      </p:sp>
      <p:sp>
        <p:nvSpPr>
          <p:cNvPr id="35" name="AutoShape 35"/>
          <p:cNvSpPr/>
          <p:nvPr/>
        </p:nvSpPr>
        <p:spPr>
          <a:xfrm>
            <a:off x="6705169" y="3855144"/>
            <a:ext cx="2166998" cy="641089"/>
          </a:xfrm>
          <a:prstGeom prst="rect">
            <a:avLst/>
          </a:prstGeom>
          <a:solidFill>
            <a:srgbClr val="FFEF81"/>
          </a:solidFill>
        </p:spPr>
      </p:sp>
      <p:sp>
        <p:nvSpPr>
          <p:cNvPr id="36" name="AutoShape 36"/>
          <p:cNvSpPr/>
          <p:nvPr/>
        </p:nvSpPr>
        <p:spPr>
          <a:xfrm>
            <a:off x="3156513" y="2784783"/>
            <a:ext cx="2593164" cy="254059"/>
          </a:xfrm>
          <a:prstGeom prst="rect">
            <a:avLst/>
          </a:prstGeom>
          <a:solidFill>
            <a:srgbClr val="CD4A42"/>
          </a:solidFill>
        </p:spPr>
      </p:sp>
      <p:sp>
        <p:nvSpPr>
          <p:cNvPr id="37" name="AutoShape 37"/>
          <p:cNvSpPr/>
          <p:nvPr/>
        </p:nvSpPr>
        <p:spPr>
          <a:xfrm>
            <a:off x="4574253" y="1860605"/>
            <a:ext cx="429791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8" name="Group 38"/>
          <p:cNvGrpSpPr/>
          <p:nvPr/>
        </p:nvGrpSpPr>
        <p:grpSpPr>
          <a:xfrm>
            <a:off x="7404515" y="1197317"/>
            <a:ext cx="1336579" cy="422781"/>
            <a:chOff x="0" y="0"/>
            <a:chExt cx="16983353" cy="53721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6983353" cy="5372100"/>
            </a:xfrm>
            <a:custGeom>
              <a:avLst/>
              <a:gdLst/>
              <a:ahLst/>
              <a:cxnLst/>
              <a:rect l="l" t="t" r="r" b="b"/>
              <a:pathLst>
                <a:path w="16983353" h="5372100">
                  <a:moveTo>
                    <a:pt x="15432683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5432683" y="5372100"/>
                  </a:lnTo>
                  <a:lnTo>
                    <a:pt x="16983353" y="2686050"/>
                  </a:lnTo>
                  <a:lnTo>
                    <a:pt x="15432683" y="0"/>
                  </a:lnTo>
                  <a:close/>
                </a:path>
              </a:pathLst>
            </a:custGeom>
            <a:solidFill>
              <a:srgbClr val="FFEF81"/>
            </a:solidFill>
          </p:spPr>
        </p:sp>
      </p:grpSp>
      <p:sp>
        <p:nvSpPr>
          <p:cNvPr id="40" name="AutoShape 40"/>
          <p:cNvSpPr/>
          <p:nvPr/>
        </p:nvSpPr>
        <p:spPr>
          <a:xfrm>
            <a:off x="8879310" y="1846746"/>
            <a:ext cx="0" cy="268288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Freeform 41"/>
          <p:cNvSpPr/>
          <p:nvPr/>
        </p:nvSpPr>
        <p:spPr>
          <a:xfrm>
            <a:off x="7735468" y="-753210"/>
            <a:ext cx="1408532" cy="1931537"/>
          </a:xfrm>
          <a:custGeom>
            <a:avLst/>
            <a:gdLst/>
            <a:ahLst/>
            <a:cxnLst/>
            <a:rect l="l" t="t" r="r" b="b"/>
            <a:pathLst>
              <a:path w="2817064" h="3863074">
                <a:moveTo>
                  <a:pt x="0" y="0"/>
                </a:moveTo>
                <a:lnTo>
                  <a:pt x="2817064" y="0"/>
                </a:lnTo>
                <a:lnTo>
                  <a:pt x="2817064" y="3863073"/>
                </a:lnTo>
                <a:lnTo>
                  <a:pt x="0" y="3863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178"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278978" y="1869790"/>
            <a:ext cx="978042" cy="17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470"/>
              </a:lnSpc>
              <a:spcBef>
                <a:spcPct val="0"/>
              </a:spcBef>
            </a:pP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Планирование</a:t>
            </a:r>
            <a:endParaRPr lang="en-US" sz="1050" b="1" spc="5" dirty="0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23172" y="295275"/>
            <a:ext cx="5925898" cy="421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3480"/>
              </a:lnSpc>
            </a:pPr>
            <a:r>
              <a:rPr lang="en-US" sz="2900" b="1" dirty="0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ДОРОЖНАЯ КАРТА ПРОДУКТА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75852" y="1294907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сентябрь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58208" y="1301552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октябрь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38810" y="1301552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ноябрь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49677" y="1207277"/>
            <a:ext cx="89180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553"/>
              </a:lnSpc>
              <a:spcBef>
                <a:spcPct val="0"/>
              </a:spcBef>
            </a:pPr>
            <a:r>
              <a:rPr lang="en-US" sz="135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февраль-июль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7912" y="959252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2025 год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770708" y="959252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2026 год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833896" y="3443827"/>
            <a:ext cx="3046975" cy="37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470"/>
              </a:lnSpc>
              <a:spcBef>
                <a:spcPct val="0"/>
              </a:spcBef>
            </a:pPr>
            <a:r>
              <a:rPr lang="en-US" sz="1050" spc="5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Внедрение</a:t>
            </a:r>
            <a:r>
              <a:rPr lang="en-US" sz="1050" spc="5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в </a:t>
            </a:r>
            <a:r>
              <a:rPr lang="en-US" sz="1050" spc="5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учреждения</a:t>
            </a:r>
            <a:r>
              <a:rPr lang="en-US" sz="1050" spc="5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1050" spc="5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образования</a:t>
            </a:r>
            <a:r>
              <a:rPr lang="en-US" sz="1050" spc="5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1050" spc="5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Республики</a:t>
            </a:r>
            <a:r>
              <a:rPr lang="en-US" sz="1050" spc="5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1050" spc="5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Беларусь</a:t>
            </a:r>
            <a:endParaRPr lang="en-US" sz="1050" spc="5"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786031" y="3896129"/>
            <a:ext cx="2086135" cy="564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470"/>
              </a:lnSpc>
              <a:spcBef>
                <a:spcPct val="0"/>
              </a:spcBef>
            </a:pPr>
            <a:r>
              <a:rPr lang="en-US" sz="1050" b="1" spc="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Доработка в соответствии с новой учебной программой по информатике в 8 классе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49031" y="2062859"/>
            <a:ext cx="1346901" cy="21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820"/>
              </a:lnSpc>
              <a:spcBef>
                <a:spcPct val="0"/>
              </a:spcBef>
            </a:pPr>
            <a:r>
              <a:rPr lang="en-US" sz="1300" b="1" spc="6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Разработка IDE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137632" y="2813358"/>
            <a:ext cx="1346901" cy="17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470"/>
              </a:lnSpc>
              <a:spcBef>
                <a:spcPct val="0"/>
              </a:spcBef>
            </a:pPr>
            <a:r>
              <a:rPr lang="en-US" sz="1050" b="1" spc="5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Тестирование</a:t>
            </a:r>
            <a:endParaRPr lang="en-US" sz="1050" b="1" spc="5" dirty="0">
              <a:solidFill>
                <a:srgbClr val="FFFFFF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545388" y="1280579"/>
            <a:ext cx="83540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725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сентябрь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257489" y="2351496"/>
            <a:ext cx="2454088" cy="37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470"/>
              </a:lnSpc>
              <a:spcBef>
                <a:spcPct val="0"/>
              </a:spcBef>
            </a:pP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Внедрение</a:t>
            </a:r>
            <a:r>
              <a:rPr lang="en-US" sz="1050" b="1" spc="5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 в ГУО “</a:t>
            </a: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Средняя</a:t>
            </a:r>
            <a:r>
              <a:rPr lang="en-US" sz="1050" b="1" spc="5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школа</a:t>
            </a:r>
            <a:r>
              <a:rPr lang="en-US" sz="1050" b="1" spc="5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№2 </a:t>
            </a: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г.Дубровно</a:t>
            </a:r>
            <a:r>
              <a:rPr lang="en-US" sz="1050" b="1" spc="5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имени</a:t>
            </a:r>
            <a:r>
              <a:rPr lang="en-US" sz="1050" b="1" spc="5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Ю.Смирнова</a:t>
            </a:r>
            <a:r>
              <a:rPr lang="en-US" sz="1050" b="1" spc="5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”</a:t>
            </a:r>
          </a:p>
        </p:txBody>
      </p:sp>
      <p:sp>
        <p:nvSpPr>
          <p:cNvPr id="56" name="AutoShape 56"/>
          <p:cNvSpPr/>
          <p:nvPr/>
        </p:nvSpPr>
        <p:spPr>
          <a:xfrm>
            <a:off x="278978" y="4629150"/>
            <a:ext cx="296874" cy="254059"/>
          </a:xfrm>
          <a:prstGeom prst="rect">
            <a:avLst/>
          </a:prstGeom>
          <a:solidFill>
            <a:srgbClr val="ED5DE2"/>
          </a:solidFill>
          <a:ln w="28575" cap="sq">
            <a:solidFill>
              <a:srgbClr val="FAF5F4"/>
            </a:solidFill>
            <a:prstDash val="solid"/>
            <a:miter/>
          </a:ln>
        </p:spPr>
      </p:sp>
      <p:sp>
        <p:nvSpPr>
          <p:cNvPr id="57" name="TextBox 57"/>
          <p:cNvSpPr txBox="1"/>
          <p:nvPr/>
        </p:nvSpPr>
        <p:spPr>
          <a:xfrm>
            <a:off x="619868" y="4629814"/>
            <a:ext cx="1596102" cy="21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820"/>
              </a:lnSpc>
            </a:pPr>
            <a:r>
              <a:rPr lang="en-US" sz="1300" b="1" spc="6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- выполнено</a:t>
            </a:r>
          </a:p>
        </p:txBody>
      </p:sp>
      <p:sp>
        <p:nvSpPr>
          <p:cNvPr id="58" name="AutoShape 58"/>
          <p:cNvSpPr/>
          <p:nvPr/>
        </p:nvSpPr>
        <p:spPr>
          <a:xfrm>
            <a:off x="4071486" y="3038841"/>
            <a:ext cx="1678191" cy="405129"/>
          </a:xfrm>
          <a:prstGeom prst="rect">
            <a:avLst/>
          </a:prstGeom>
          <a:solidFill>
            <a:srgbClr val="FFEF81"/>
          </a:solidFill>
        </p:spPr>
      </p:sp>
      <p:sp>
        <p:nvSpPr>
          <p:cNvPr id="59" name="TextBox 59"/>
          <p:cNvSpPr txBox="1"/>
          <p:nvPr/>
        </p:nvSpPr>
        <p:spPr>
          <a:xfrm>
            <a:off x="4168863" y="3052932"/>
            <a:ext cx="1378408" cy="37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470"/>
              </a:lnSpc>
              <a:spcBef>
                <a:spcPct val="0"/>
              </a:spcBef>
            </a:pP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Разработка</a:t>
            </a:r>
            <a:r>
              <a:rPr lang="en-US" sz="1050" b="1" spc="5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сайта</a:t>
            </a:r>
            <a:r>
              <a:rPr lang="en-US" sz="1050" b="1" spc="5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1050" b="1" spc="5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программы</a:t>
            </a:r>
            <a:endParaRPr lang="en-US" sz="1050" b="1" spc="5" dirty="0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2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3">
            <a:extLst>
              <a:ext uri="{FF2B5EF4-FFF2-40B4-BE49-F238E27FC236}">
                <a16:creationId xmlns:a16="http://schemas.microsoft.com/office/drawing/2014/main" id="{E4516DB7-1B50-4BFA-BFE2-187DA954EC0C}"/>
              </a:ext>
            </a:extLst>
          </p:cNvPr>
          <p:cNvSpPr txBox="1"/>
          <p:nvPr/>
        </p:nvSpPr>
        <p:spPr>
          <a:xfrm>
            <a:off x="323172" y="295275"/>
            <a:ext cx="5925898" cy="421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3480"/>
              </a:lnSpc>
            </a:pPr>
            <a:r>
              <a:rPr lang="ru-RU" sz="2900" b="1" dirty="0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Разработка сайта программы</a:t>
            </a:r>
          </a:p>
        </p:txBody>
      </p:sp>
      <p:pic>
        <p:nvPicPr>
          <p:cNvPr id="1026" name="Picture 2" descr="C:\Users\pavel\Downloads\Screenshot 2025-12-13 at 19-12-09 Vuzhyk IDE - Современная IDE для Python разработки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72" y="1059581"/>
            <a:ext cx="5846671" cy="35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avel\Downloads\qr-cod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059580"/>
            <a:ext cx="2325637" cy="232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566225" y="3651870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Fira Sans Ultra-Bold"/>
              </a:rPr>
              <a:t>vuzhyk.by</a:t>
            </a:r>
            <a:endParaRPr lang="ru-RU" sz="3600" dirty="0">
              <a:solidFill>
                <a:schemeClr val="bg1"/>
              </a:solidFill>
              <a:latin typeface="Fira Sans Ultra-Bold"/>
            </a:endParaRPr>
          </a:p>
        </p:txBody>
      </p:sp>
    </p:spTree>
    <p:extLst>
      <p:ext uri="{BB962C8B-B14F-4D97-AF65-F5344CB8AC3E}">
        <p14:creationId xmlns:p14="http://schemas.microsoft.com/office/powerpoint/2010/main" val="1758787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 hidden="1"/>
          <p:cNvSpPr txBox="1"/>
          <p:nvPr/>
        </p:nvSpPr>
        <p:spPr>
          <a:xfrm>
            <a:off x="3900842" y="3147814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младший научный сотрудник Института микробиологии 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НАН Беларуси.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4114" y="556603"/>
            <a:ext cx="50302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Roboto" pitchFamily="2" charset="0"/>
              </a:rPr>
              <a:t>Павел Корнеев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158D4-0A2B-4507-805B-D32FB92735C6}"/>
              </a:ext>
            </a:extLst>
          </p:cNvPr>
          <p:cNvSpPr txBox="1"/>
          <p:nvPr/>
        </p:nvSpPr>
        <p:spPr>
          <a:xfrm>
            <a:off x="2554114" y="2427734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Roboto" pitchFamily="2" charset="0"/>
              </a:rPr>
              <a:t>Студент факультета информационных технологий и робототехники, группа ИТ-13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2EFF393-6F06-40E6-8DD3-4F4F46E3B2F9}"/>
              </a:ext>
            </a:extLst>
          </p:cNvPr>
          <p:cNvSpPr txBox="1"/>
          <p:nvPr/>
        </p:nvSpPr>
        <p:spPr>
          <a:xfrm>
            <a:off x="1043608" y="3507854"/>
            <a:ext cx="4824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Roboto" pitchFamily="2" charset="0"/>
                <a:cs typeface="+mn-cs"/>
              </a:rPr>
              <a:t>Моб. тел.: +375 (25) 746 79 54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Roboto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Roboto" pitchFamily="2" charset="0"/>
                <a:cs typeface="+mn-cs"/>
              </a:rPr>
              <a:t>Telegram: @PaulRoot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Roboto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Roboto" pitchFamily="2" charset="0"/>
                <a:cs typeface="+mn-cs"/>
              </a:rPr>
              <a:t>Эл. почта: </a:t>
            </a:r>
            <a:r>
              <a:rPr 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Roboto" pitchFamily="2" charset="0"/>
              </a:rPr>
              <a:t>grossbeak.pub@gmail.com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Roboto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Roboto" pitchFamily="2" charset="0"/>
                <a:cs typeface="+mn-cs"/>
              </a:rPr>
              <a:t>GitHub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Roboto" pitchFamily="2" charset="0"/>
                <a:cs typeface="+mn-cs"/>
              </a:rPr>
              <a:t>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Roboto" pitchFamily="2" charset="0"/>
                <a:cs typeface="+mn-cs"/>
              </a:rPr>
              <a:t>github.com/Grossbeak/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Roboto" pitchFamily="2" charset="0"/>
                <a:cs typeface="+mn-cs"/>
              </a:rPr>
              <a:t>Vuzhyk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Roboto" pitchFamily="2" charset="0"/>
              <a:cs typeface="+mn-cs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95B985C-90FE-4031-8861-441A69F627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63" y="557372"/>
            <a:ext cx="2014378" cy="201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023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2692</TotalTime>
  <Words>472</Words>
  <Application>Microsoft Office PowerPoint</Application>
  <PresentationFormat>Экран (16:9)</PresentationFormat>
  <Paragraphs>100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Fira Sans Bold</vt:lpstr>
      <vt:lpstr>Fira Sans Medium</vt:lpstr>
      <vt:lpstr>Fira Sans Ultra-Bold</vt:lpstr>
      <vt:lpstr>Roboto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Сазанков Александр Валентинович</dc:creator>
  <cp:lastModifiedBy>Viktoryia</cp:lastModifiedBy>
  <cp:revision>86</cp:revision>
  <dcterms:created xsi:type="dcterms:W3CDTF">2021-05-13T10:51:29Z</dcterms:created>
  <dcterms:modified xsi:type="dcterms:W3CDTF">2026-02-20T18:35:11Z</dcterms:modified>
</cp:coreProperties>
</file>